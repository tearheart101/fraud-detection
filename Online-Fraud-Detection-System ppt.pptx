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7" r:id="rId3"/>
    <p:sldId id="257" r:id="rId4"/>
    <p:sldId id="258" r:id="rId5"/>
    <p:sldId id="259" r:id="rId6"/>
    <p:sldId id="260" r:id="rId7"/>
    <p:sldId id="269" r:id="rId8"/>
    <p:sldId id="261" r:id="rId9"/>
    <p:sldId id="262" r:id="rId10"/>
    <p:sldId id="263" r:id="rId11"/>
    <p:sldId id="264" r:id="rId12"/>
    <p:sldId id="265" r:id="rId13"/>
    <p:sldId id="268" r:id="rId14"/>
    <p:sldId id="270" r:id="rId15"/>
    <p:sldId id="266" r:id="rId16"/>
  </p:sldIdLst>
  <p:sldSz cx="9144000" cy="5143500" type="screen16x9"/>
  <p:notesSz cx="5143500" cy="9144000"/>
  <p:embeddedFontLst>
    <p:embeddedFont>
      <p:font typeface="Franklin Gothic Medium" panose="020B0603020102020204" pitchFamily="34" charset="0"/>
      <p:regular r:id="rId18"/>
      <p:italic r:id="rId19"/>
    </p:embeddedFont>
    <p:embeddedFont>
      <p:font typeface="Inconsolata" pitchFamily="1" charset="0"/>
      <p:regular r:id="rId20"/>
    </p:embeddedFont>
    <p:embeddedFont>
      <p:font typeface="Montserrat Black" panose="00000A00000000000000" pitchFamily="2" charset="0"/>
      <p:regular r:id="rId21"/>
      <p:bold r:id="rId22"/>
    </p:embeddedFont>
    <p:embeddedFont>
      <p:font typeface="Montserrat Light" panose="00000400000000000000" pitchFamily="2" charset="0"/>
      <p:regular r:id="rId23"/>
      <p: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EC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mol.verma.5543@outlook.com" userId="11a2dc3c55df1d4f" providerId="LiveId" clId="{1D0C90A5-B551-42EC-A445-310EB4B84707}"/>
    <pc:docChg chg="custSel modSld">
      <pc:chgData name="anmol.verma.5543@outlook.com" userId="11a2dc3c55df1d4f" providerId="LiveId" clId="{1D0C90A5-B551-42EC-A445-310EB4B84707}" dt="2026-05-08T05:33:38.102" v="144" actId="20577"/>
      <pc:docMkLst>
        <pc:docMk/>
      </pc:docMkLst>
      <pc:sldChg chg="modSp mod">
        <pc:chgData name="anmol.verma.5543@outlook.com" userId="11a2dc3c55df1d4f" providerId="LiveId" clId="{1D0C90A5-B551-42EC-A445-310EB4B84707}" dt="2026-05-08T05:31:42.370" v="47" actId="20577"/>
        <pc:sldMkLst>
          <pc:docMk/>
          <pc:sldMk cId="0" sldId="256"/>
        </pc:sldMkLst>
        <pc:spChg chg="mod">
          <ac:chgData name="anmol.verma.5543@outlook.com" userId="11a2dc3c55df1d4f" providerId="LiveId" clId="{1D0C90A5-B551-42EC-A445-310EB4B84707}" dt="2026-05-08T05:31:42.370" v="47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anmol.verma.5543@outlook.com" userId="11a2dc3c55df1d4f" providerId="LiveId" clId="{1D0C90A5-B551-42EC-A445-310EB4B84707}" dt="2026-05-08T05:33:38.102" v="144" actId="20577"/>
        <pc:sldMkLst>
          <pc:docMk/>
          <pc:sldMk cId="0" sldId="266"/>
        </pc:sldMkLst>
        <pc:spChg chg="mod">
          <ac:chgData name="anmol.verma.5543@outlook.com" userId="11a2dc3c55df1d4f" providerId="LiveId" clId="{1D0C90A5-B551-42EC-A445-310EB4B84707}" dt="2026-05-08T05:33:38.102" v="144" actId="20577"/>
          <ac:spMkLst>
            <pc:docMk/>
            <pc:sldMk cId="0" sldId="266"/>
            <ac:spMk id="4" creationId="{00000000-0000-0000-0000-000000000000}"/>
          </ac:spMkLst>
        </pc:spChg>
        <pc:spChg chg="mod">
          <ac:chgData name="anmol.verma.5543@outlook.com" userId="11a2dc3c55df1d4f" providerId="LiveId" clId="{1D0C90A5-B551-42EC-A445-310EB4B84707}" dt="2026-05-08T05:32:12.714" v="51" actId="1076"/>
          <ac:spMkLst>
            <pc:docMk/>
            <pc:sldMk cId="0" sldId="266"/>
            <ac:spMk id="5" creationId="{00000000-0000-0000-0000-000000000000}"/>
          </ac:spMkLst>
        </pc:spChg>
        <pc:spChg chg="mod">
          <ac:chgData name="anmol.verma.5543@outlook.com" userId="11a2dc3c55df1d4f" providerId="LiveId" clId="{1D0C90A5-B551-42EC-A445-310EB4B84707}" dt="2026-05-08T05:32:08.708" v="50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anmol.verma.5543@outlook.com" userId="11a2dc3c55df1d4f" providerId="LiveId" clId="{1D0C90A5-B551-42EC-A445-310EB4B84707}" dt="2026-05-08T05:32:01.853" v="49" actId="1076"/>
          <ac:spMkLst>
            <pc:docMk/>
            <pc:sldMk cId="0" sldId="266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9317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870249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Online Fraud Detection System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694905"/>
            <a:ext cx="385360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Using Machine Learning and Neural Networks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925119" y="3074788"/>
            <a:ext cx="4722763" cy="1229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Gautam Buddha University | B.Tech CSE AI | 2024-25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E562A6-F1DF-74BA-8624-E0FB099CE0CD}"/>
              </a:ext>
            </a:extLst>
          </p:cNvPr>
          <p:cNvSpPr txBox="1"/>
          <p:nvPr/>
        </p:nvSpPr>
        <p:spPr>
          <a:xfrm>
            <a:off x="265112" y="284332"/>
            <a:ext cx="81343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51617"/>
                </a:solidFill>
                <a:latin typeface="Montserrat Black" pitchFamily="34" charset="0"/>
              </a:rPr>
              <a:t>INTRODUCTION</a:t>
            </a:r>
            <a:endParaRPr lang="en-IN" sz="2800" b="1" dirty="0">
              <a:solidFill>
                <a:srgbClr val="151617"/>
              </a:solidFill>
              <a:latin typeface="Montserrat Black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4F8D0B-069B-EF1F-695A-7FC2F0C9DC5B}"/>
              </a:ext>
            </a:extLst>
          </p:cNvPr>
          <p:cNvSpPr txBox="1"/>
          <p:nvPr/>
        </p:nvSpPr>
        <p:spPr>
          <a:xfrm>
            <a:off x="265112" y="1044664"/>
            <a:ext cx="3975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What is online fraud detection </a:t>
            </a:r>
            <a:r>
              <a:rPr lang="en-US" sz="10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?</a:t>
            </a:r>
            <a:endParaRPr lang="en-IN" sz="1000" b="1" dirty="0">
              <a:solidFill>
                <a:srgbClr val="151617"/>
              </a:solidFill>
              <a:latin typeface="Inconsolata" pitchFamily="34" charset="0"/>
              <a:ea typeface="Inconsolata" pitchFamily="34" charset="-12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311EF3-82F6-4A36-1377-6A01CB27D750}"/>
              </a:ext>
            </a:extLst>
          </p:cNvPr>
          <p:cNvSpPr txBox="1"/>
          <p:nvPr/>
        </p:nvSpPr>
        <p:spPr>
          <a:xfrm>
            <a:off x="265112" y="1461525"/>
            <a:ext cx="404336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Online fraud detection is the process of identifying  suspicious or unauthorized financial transactions   automatically using intelligent algorithms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100" dirty="0">
              <a:solidFill>
                <a:srgbClr val="151617"/>
              </a:solidFill>
              <a:latin typeface="Inconsolata" pitchFamily="34" charset="0"/>
              <a:ea typeface="Inconsolata" pitchFamily="34" charset="-122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 With the rise of digital payments, credit card fraud </a:t>
            </a:r>
          </a:p>
          <a:p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   has become one of the biggest threats to financial </a:t>
            </a:r>
          </a:p>
          <a:p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   security worldwide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100" dirty="0">
              <a:solidFill>
                <a:srgbClr val="151617"/>
              </a:solidFill>
              <a:latin typeface="Inconsolata" pitchFamily="34" charset="0"/>
              <a:ea typeface="Inconsolata" pitchFamily="34" charset="-122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 Traditional systems use fixed rules which fail to </a:t>
            </a:r>
          </a:p>
          <a:p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    adapt to new and evolving fraud patterns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100" dirty="0">
              <a:solidFill>
                <a:srgbClr val="151617"/>
              </a:solidFill>
              <a:latin typeface="Inconsolata" pitchFamily="34" charset="0"/>
              <a:ea typeface="Inconsolata" pitchFamily="34" charset="-122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Machine Learning solves this by learning patterns </a:t>
            </a:r>
          </a:p>
          <a:p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   from historical data and detecting fraud</a:t>
            </a:r>
          </a:p>
          <a:p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   automatically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sz="1100" dirty="0">
              <a:solidFill>
                <a:srgbClr val="151617"/>
              </a:solidFill>
              <a:latin typeface="Inconsolata" pitchFamily="34" charset="0"/>
              <a:ea typeface="Inconsolata" pitchFamily="34" charset="-122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Our system analyzes 30 features of each transaction </a:t>
            </a:r>
          </a:p>
          <a:p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   and instantly classifies it as Fraud or Legitimate</a:t>
            </a:r>
            <a:endParaRPr lang="en-IN" sz="1100" dirty="0">
              <a:solidFill>
                <a:srgbClr val="151617"/>
              </a:solidFill>
              <a:latin typeface="Inconsolata" pitchFamily="34" charset="0"/>
              <a:ea typeface="Inconsolata" pitchFamily="34" charset="-122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C8C23C-475C-9837-1426-46C8620203F3}"/>
              </a:ext>
            </a:extLst>
          </p:cNvPr>
          <p:cNvSpPr/>
          <p:nvPr/>
        </p:nvSpPr>
        <p:spPr>
          <a:xfrm>
            <a:off x="4705350" y="3499129"/>
            <a:ext cx="3206750" cy="11017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000" dirty="0"/>
              <a:t>💳 Credit card fraud losses    →   $33 Billion in 2022</a:t>
            </a:r>
          </a:p>
          <a:p>
            <a:r>
              <a:rPr lang="en-IN" sz="1000" dirty="0"/>
              <a:t>📈 Digital transactions        →   Growing 300% annually  </a:t>
            </a:r>
          </a:p>
          <a:p>
            <a:r>
              <a:rPr lang="en-IN" sz="1000" dirty="0"/>
              <a:t>🌍 People affected by fraud    →   1 in 5 cardholders</a:t>
            </a:r>
          </a:p>
          <a:p>
            <a:r>
              <a:rPr lang="en-IN" sz="1000" dirty="0"/>
              <a:t>⚡ Detection speed needed      →   Under 2 seconds</a:t>
            </a:r>
          </a:p>
          <a:p>
            <a:r>
              <a:rPr lang="en-IN" sz="1000" dirty="0"/>
              <a:t>🤖 ML detection accuracy       →   Up to 99.99%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8A567C-C13D-2564-8D51-792823EE8234}"/>
              </a:ext>
            </a:extLst>
          </p:cNvPr>
          <p:cNvSpPr txBox="1"/>
          <p:nvPr/>
        </p:nvSpPr>
        <p:spPr>
          <a:xfrm>
            <a:off x="4572000" y="1461525"/>
            <a:ext cx="397510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Traditional Systems        ML Based Systems</a:t>
            </a:r>
          </a:p>
          <a:p>
            <a:r>
              <a:rPr lang="en-IN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─────────────────         ─────────────────</a:t>
            </a:r>
          </a:p>
          <a:p>
            <a:r>
              <a:rPr lang="en-IN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Fixed rules only    →     Learns from data</a:t>
            </a:r>
          </a:p>
          <a:p>
            <a:r>
              <a:rPr lang="en-IN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Manual updates      →     Adapts automatically</a:t>
            </a:r>
          </a:p>
          <a:p>
            <a:r>
              <a:rPr lang="en-IN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Slow detection      →     Real time detection</a:t>
            </a:r>
          </a:p>
          <a:p>
            <a:r>
              <a:rPr lang="en-IN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High false alarms   →     Precise detection</a:t>
            </a:r>
          </a:p>
          <a:p>
            <a:r>
              <a:rPr lang="en-IN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Cannot scale        →     Handles millions/sec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E647C3-F7BA-4E89-C46C-DEE741E835A1}"/>
              </a:ext>
            </a:extLst>
          </p:cNvPr>
          <p:cNvSpPr txBox="1"/>
          <p:nvPr/>
        </p:nvSpPr>
        <p:spPr>
          <a:xfrm>
            <a:off x="4572000" y="1044663"/>
            <a:ext cx="3975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Why Machine Learning </a:t>
            </a:r>
            <a:r>
              <a:rPr lang="en-US" sz="10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</a:rPr>
              <a:t>?</a:t>
            </a:r>
            <a:endParaRPr lang="en-IN" sz="1000" b="1" dirty="0">
              <a:solidFill>
                <a:srgbClr val="151617"/>
              </a:solidFill>
              <a:latin typeface="Inconsolata" pitchFamily="34" charset="0"/>
              <a:ea typeface="Inconsolata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3699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01191"/>
            <a:ext cx="347898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1236762"/>
            <a:ext cx="4722763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$10T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2022872" y="1801118"/>
            <a:ext cx="166925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Global Fraud Losses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96119" y="2069381"/>
            <a:ext cx="4722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Expected by 2025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96119" y="2577852"/>
            <a:ext cx="4722763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0.173%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2082180" y="314220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Fraud Rate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96119" y="3410471"/>
            <a:ext cx="4722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Only 0.173 percent of transactions are fraudulent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96119" y="3748460"/>
            <a:ext cx="472276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i="1" dirty="0">
                <a:solidFill>
                  <a:srgbClr val="151617"/>
                </a:solidFill>
                <a:latin typeface="Franklin Gothic Medium" panose="020B0603020102020204" pitchFamily="34" charset="0"/>
                <a:ea typeface="Inconsolata" pitchFamily="34" charset="-122"/>
                <a:cs typeface="Inconsolata" pitchFamily="34" charset="-120"/>
              </a:rPr>
              <a:t>Traditional rule-based systems fail to detect evolving fraud patterns. Machine Learning provides an intelligent, adaptive solution that learns patterns automatically from data, enabling real-time fraud detection in online transactions.</a:t>
            </a:r>
            <a:endParaRPr lang="en-US" sz="1100" i="1" dirty="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04404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Dataset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001962"/>
            <a:ext cx="29976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Kaggle Credit Card Fraud Detection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2319784"/>
            <a:ext cx="39245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Dataset by ULB Belgium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2629867"/>
            <a:ext cx="3924598" cy="1165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Total transactions: 284,807</a:t>
            </a:r>
            <a:endParaRPr lang="en-US" sz="9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Legitimate: 284,315</a:t>
            </a:r>
            <a:endParaRPr lang="en-US" sz="9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Fraudulent: 492</a:t>
            </a:r>
            <a:endParaRPr lang="en-US" sz="9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Fraud percentage: 0.173%</a:t>
            </a:r>
            <a:endParaRPr lang="en-US" sz="950" dirty="0"/>
          </a:p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Features: 30 total (V1-V28 PCA transformed, Time, Amount)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728046" y="1989609"/>
            <a:ext cx="392459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endParaRPr lang="en-US" sz="9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3C823C-07C5-1F12-14B5-04B8322D15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0333"/>
          <a:stretch>
            <a:fillRect/>
          </a:stretch>
        </p:blipFill>
        <p:spPr>
          <a:xfrm>
            <a:off x="4556939" y="779934"/>
            <a:ext cx="1948081" cy="18240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7EE580-24A5-A785-D8FF-9CE74D8915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354"/>
          <a:stretch>
            <a:fillRect/>
          </a:stretch>
        </p:blipFill>
        <p:spPr>
          <a:xfrm>
            <a:off x="4556939" y="3212789"/>
            <a:ext cx="1964318" cy="15748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9864AC-50EB-7908-2261-438A3E142C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475" r="34667"/>
          <a:stretch>
            <a:fillRect/>
          </a:stretch>
        </p:blipFill>
        <p:spPr>
          <a:xfrm>
            <a:off x="6660383" y="2088840"/>
            <a:ext cx="2354575" cy="1824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7751"/>
            <a:ext cx="2325812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96119" y="949165"/>
            <a:ext cx="8203381" cy="300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Our six-step pipeline transforms raw transaction data into a working fraud detection system: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16670"/>
            <a:ext cx="465162" cy="5581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31007" y="1309687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Load Dataset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31007" y="1496839"/>
            <a:ext cx="7616875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284,807 transactions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774850"/>
            <a:ext cx="465162" cy="5581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31007" y="1867867"/>
            <a:ext cx="1629891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Exploratory Data Analysis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31007" y="2060934"/>
            <a:ext cx="7616875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Visualization and insights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333030"/>
            <a:ext cx="465162" cy="5581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31007" y="2426047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Preprocessing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031007" y="2613199"/>
            <a:ext cx="7616875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StandardScaler normalization plus SMOTE balancing increased samples from 492 to 568,630 total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2891210"/>
            <a:ext cx="465162" cy="5581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31007" y="2984227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Train Models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031007" y="3171379"/>
            <a:ext cx="7616875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4 ML models plus Neural Network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19" y="3449389"/>
            <a:ext cx="465162" cy="5581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31007" y="3542407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Evaluate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1031007" y="3729558"/>
            <a:ext cx="7616875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Accuracy, Precision, Recall, ROC AUC</a:t>
            </a:r>
            <a:endParaRPr lang="en-US" sz="10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119" y="4007569"/>
            <a:ext cx="465162" cy="5581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31007" y="4100587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Best Model</a:t>
            </a:r>
            <a:endParaRPr lang="en-US" sz="900" dirty="0"/>
          </a:p>
        </p:txBody>
      </p:sp>
      <p:sp>
        <p:nvSpPr>
          <p:cNvPr id="21" name="Text 13"/>
          <p:cNvSpPr/>
          <p:nvPr/>
        </p:nvSpPr>
        <p:spPr>
          <a:xfrm>
            <a:off x="1031007" y="4287738"/>
            <a:ext cx="7616875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Random Forest selected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71686"/>
            <a:ext cx="3101132" cy="437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Models Used</a:t>
            </a:r>
            <a:endParaRPr lang="en-US" sz="24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E8FFDEF-4EC1-93C9-A3ED-83417CDEAE4F}"/>
              </a:ext>
            </a:extLst>
          </p:cNvPr>
          <p:cNvGrpSpPr/>
          <p:nvPr/>
        </p:nvGrpSpPr>
        <p:grpSpPr>
          <a:xfrm>
            <a:off x="421704" y="885750"/>
            <a:ext cx="2634555" cy="1101105"/>
            <a:chOff x="496119" y="1726406"/>
            <a:chExt cx="2634555" cy="1101105"/>
          </a:xfrm>
        </p:grpSpPr>
        <p:sp>
          <p:nvSpPr>
            <p:cNvPr id="5" name="Shape 3"/>
            <p:cNvSpPr/>
            <p:nvPr/>
          </p:nvSpPr>
          <p:spPr>
            <a:xfrm>
              <a:off x="1627361" y="1726406"/>
              <a:ext cx="372070" cy="372070"/>
            </a:xfrm>
            <a:prstGeom prst="roundRect">
              <a:avLst>
                <a:gd name="adj" fmla="val 153600"/>
              </a:avLst>
            </a:prstGeom>
            <a:solidFill>
              <a:srgbClr val="151617"/>
            </a:solidFill>
            <a:ln/>
          </p:spPr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8840A805-9780-8AC1-7387-7A79FD5529D4}"/>
                </a:ext>
              </a:extLst>
            </p:cNvPr>
            <p:cNvGrpSpPr/>
            <p:nvPr/>
          </p:nvGrpSpPr>
          <p:grpSpPr>
            <a:xfrm>
              <a:off x="496119" y="1838027"/>
              <a:ext cx="2634555" cy="989484"/>
              <a:chOff x="496119" y="1838027"/>
              <a:chExt cx="2634555" cy="989484"/>
            </a:xfrm>
          </p:grpSpPr>
          <p:sp>
            <p:nvSpPr>
              <p:cNvPr id="3" name="Shape 1"/>
              <p:cNvSpPr/>
              <p:nvPr/>
            </p:nvSpPr>
            <p:spPr>
              <a:xfrm>
                <a:off x="496119" y="1912441"/>
                <a:ext cx="2634555" cy="915070"/>
              </a:xfrm>
              <a:prstGeom prst="roundRect">
                <a:avLst>
                  <a:gd name="adj" fmla="val 7495"/>
                </a:avLst>
              </a:prstGeom>
              <a:solidFill>
                <a:srgbClr val="F8ECE4"/>
              </a:solidFill>
              <a:ln w="14288">
                <a:solidFill>
                  <a:srgbClr val="151617"/>
                </a:solidFill>
                <a:prstDash val="solid"/>
              </a:ln>
              <a:effectLst>
                <a:outerShdw dist="15240" dir="2700000" algn="bl" rotWithShape="0">
                  <a:srgbClr val="151617">
                    <a:alpha val="100000"/>
                  </a:srgbClr>
                </a:outerShdw>
              </a:effectLst>
            </p:spPr>
          </p:sp>
          <p:sp>
            <p:nvSpPr>
              <p:cNvPr id="4" name="Shape 2"/>
              <p:cNvSpPr/>
              <p:nvPr/>
            </p:nvSpPr>
            <p:spPr>
              <a:xfrm>
                <a:off x="496119" y="1898154"/>
                <a:ext cx="2634555" cy="57150"/>
              </a:xfrm>
              <a:prstGeom prst="roundRect">
                <a:avLst>
                  <a:gd name="adj" fmla="val 10000"/>
                </a:avLst>
              </a:prstGeom>
              <a:solidFill>
                <a:srgbClr val="151617"/>
              </a:solidFill>
              <a:ln/>
            </p:spPr>
          </p:sp>
          <p:pic>
            <p:nvPicPr>
              <p:cNvPr id="6" name="Image 0" descr="preencoded.png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738982" y="1838027"/>
                <a:ext cx="148828" cy="148828"/>
              </a:xfrm>
              <a:prstGeom prst="rect">
                <a:avLst/>
              </a:prstGeom>
            </p:spPr>
          </p:pic>
          <p:sp>
            <p:nvSpPr>
              <p:cNvPr id="7" name="Text 4"/>
              <p:cNvSpPr/>
              <p:nvPr/>
            </p:nvSpPr>
            <p:spPr>
              <a:xfrm>
                <a:off x="988219" y="2222525"/>
                <a:ext cx="1650355" cy="1938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1500"/>
                  </a:lnSpc>
                  <a:buNone/>
                </a:pPr>
                <a:r>
                  <a:rPr lang="en-US" sz="1200" b="1" dirty="0">
                    <a:solidFill>
                      <a:srgbClr val="151617"/>
                    </a:solidFill>
                    <a:latin typeface="Montserrat Black" pitchFamily="34" charset="0"/>
                    <a:ea typeface="Montserrat Black" pitchFamily="34" charset="-122"/>
                    <a:cs typeface="Montserrat Black" pitchFamily="34" charset="-120"/>
                  </a:rPr>
                  <a:t>Logistic Regression</a:t>
                </a:r>
                <a:endParaRPr lang="en-US" sz="1200" dirty="0"/>
              </a:p>
            </p:txBody>
          </p:sp>
          <p:sp>
            <p:nvSpPr>
              <p:cNvPr id="8" name="Text 5"/>
              <p:cNvSpPr/>
              <p:nvPr/>
            </p:nvSpPr>
            <p:spPr>
              <a:xfrm>
                <a:off x="634380" y="2490788"/>
                <a:ext cx="2358033" cy="19846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1550"/>
                  </a:lnSpc>
                  <a:buNone/>
                </a:pPr>
                <a:r>
                  <a:rPr lang="en-US" sz="950" dirty="0">
                    <a:solidFill>
                      <a:srgbClr val="151617"/>
                    </a:solidFill>
                    <a:latin typeface="Inconsolata" pitchFamily="34" charset="0"/>
                    <a:ea typeface="Inconsolata" pitchFamily="34" charset="-122"/>
                    <a:cs typeface="Inconsolata" pitchFamily="34" charset="-120"/>
                  </a:rPr>
                  <a:t>Baseline linear model</a:t>
                </a:r>
                <a:endParaRPr lang="en-US" sz="950" dirty="0"/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0F9576A-FACE-E4A1-B278-CD8A8C3107EB}"/>
              </a:ext>
            </a:extLst>
          </p:cNvPr>
          <p:cNvGrpSpPr/>
          <p:nvPr/>
        </p:nvGrpSpPr>
        <p:grpSpPr>
          <a:xfrm>
            <a:off x="6025986" y="885750"/>
            <a:ext cx="2634630" cy="1101105"/>
            <a:chOff x="3254648" y="1726406"/>
            <a:chExt cx="2634630" cy="1101105"/>
          </a:xfrm>
        </p:grpSpPr>
        <p:sp>
          <p:nvSpPr>
            <p:cNvPr id="9" name="Shape 6"/>
            <p:cNvSpPr/>
            <p:nvPr/>
          </p:nvSpPr>
          <p:spPr>
            <a:xfrm>
              <a:off x="3254648" y="1912441"/>
              <a:ext cx="2634630" cy="915070"/>
            </a:xfrm>
            <a:prstGeom prst="roundRect">
              <a:avLst>
                <a:gd name="adj" fmla="val 7495"/>
              </a:avLst>
            </a:prstGeom>
            <a:solidFill>
              <a:srgbClr val="F8ECE4"/>
            </a:solidFill>
            <a:ln w="14288">
              <a:solidFill>
                <a:srgbClr val="151617"/>
              </a:solidFill>
              <a:prstDash val="solid"/>
            </a:ln>
            <a:effectLst>
              <a:outerShdw dist="15240" dir="2700000" algn="bl" rotWithShape="0">
                <a:srgbClr val="151617">
                  <a:alpha val="100000"/>
                </a:srgbClr>
              </a:outerShdw>
            </a:effectLst>
          </p:spPr>
        </p:sp>
        <p:sp>
          <p:nvSpPr>
            <p:cNvPr id="10" name="Shape 7"/>
            <p:cNvSpPr/>
            <p:nvPr/>
          </p:nvSpPr>
          <p:spPr>
            <a:xfrm>
              <a:off x="3254648" y="1898154"/>
              <a:ext cx="2634630" cy="57150"/>
            </a:xfrm>
            <a:prstGeom prst="roundRect">
              <a:avLst>
                <a:gd name="adj" fmla="val 10000"/>
              </a:avLst>
            </a:prstGeom>
            <a:solidFill>
              <a:srgbClr val="151617"/>
            </a:solidFill>
            <a:ln/>
          </p:spPr>
        </p:sp>
        <p:sp>
          <p:nvSpPr>
            <p:cNvPr id="11" name="Shape 8"/>
            <p:cNvSpPr/>
            <p:nvPr/>
          </p:nvSpPr>
          <p:spPr>
            <a:xfrm>
              <a:off x="4385890" y="1726406"/>
              <a:ext cx="372070" cy="372070"/>
            </a:xfrm>
            <a:prstGeom prst="roundRect">
              <a:avLst>
                <a:gd name="adj" fmla="val 153600"/>
              </a:avLst>
            </a:prstGeom>
            <a:solidFill>
              <a:srgbClr val="151617"/>
            </a:solidFill>
            <a:ln/>
          </p:spPr>
        </p:sp>
        <p:pic>
          <p:nvPicPr>
            <p:cNvPr id="12" name="Image 1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497512" y="1838027"/>
              <a:ext cx="148828" cy="148828"/>
            </a:xfrm>
            <a:prstGeom prst="rect">
              <a:avLst/>
            </a:prstGeom>
          </p:spPr>
        </p:pic>
        <p:sp>
          <p:nvSpPr>
            <p:cNvPr id="13" name="Text 9"/>
            <p:cNvSpPr/>
            <p:nvPr/>
          </p:nvSpPr>
          <p:spPr>
            <a:xfrm>
              <a:off x="3796680" y="2222525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1617"/>
                  </a:solidFill>
                  <a:latin typeface="Montserrat Black" pitchFamily="34" charset="0"/>
                  <a:ea typeface="Montserrat Black" pitchFamily="34" charset="-122"/>
                  <a:cs typeface="Montserrat Black" pitchFamily="34" charset="-120"/>
                </a:rPr>
                <a:t>Decision Tree</a:t>
              </a:r>
              <a:endParaRPr lang="en-US" sz="1200" dirty="0"/>
            </a:p>
          </p:txBody>
        </p:sp>
        <p:sp>
          <p:nvSpPr>
            <p:cNvPr id="14" name="Text 10"/>
            <p:cNvSpPr/>
            <p:nvPr/>
          </p:nvSpPr>
          <p:spPr>
            <a:xfrm>
              <a:off x="3392909" y="2490788"/>
              <a:ext cx="2358107" cy="1984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550"/>
                </a:lnSpc>
                <a:buNone/>
              </a:pPr>
              <a:r>
                <a:rPr lang="en-US" sz="950" dirty="0">
                  <a:solidFill>
                    <a:srgbClr val="151617"/>
                  </a:solidFill>
                  <a:latin typeface="Inconsolata" pitchFamily="34" charset="0"/>
                  <a:ea typeface="Inconsolata" pitchFamily="34" charset="-122"/>
                  <a:cs typeface="Inconsolata" pitchFamily="34" charset="-120"/>
                </a:rPr>
                <a:t>Rule-based classifier</a:t>
              </a:r>
              <a:endParaRPr lang="en-US" sz="95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08E4ACE-0B18-55D5-A809-F2062ADCD54D}"/>
              </a:ext>
            </a:extLst>
          </p:cNvPr>
          <p:cNvGrpSpPr/>
          <p:nvPr/>
        </p:nvGrpSpPr>
        <p:grpSpPr>
          <a:xfrm>
            <a:off x="3221249" y="892620"/>
            <a:ext cx="2634555" cy="1101105"/>
            <a:chOff x="6013252" y="1726406"/>
            <a:chExt cx="2634555" cy="1101105"/>
          </a:xfrm>
        </p:grpSpPr>
        <p:sp>
          <p:nvSpPr>
            <p:cNvPr id="15" name="Shape 11"/>
            <p:cNvSpPr/>
            <p:nvPr/>
          </p:nvSpPr>
          <p:spPr>
            <a:xfrm>
              <a:off x="6013252" y="1912441"/>
              <a:ext cx="2634555" cy="915070"/>
            </a:xfrm>
            <a:prstGeom prst="roundRect">
              <a:avLst>
                <a:gd name="adj" fmla="val 7495"/>
              </a:avLst>
            </a:prstGeom>
            <a:solidFill>
              <a:srgbClr val="F8ECE4"/>
            </a:solidFill>
            <a:ln w="14288">
              <a:solidFill>
                <a:srgbClr val="151617"/>
              </a:solidFill>
              <a:prstDash val="solid"/>
            </a:ln>
            <a:effectLst>
              <a:outerShdw dist="15240" dir="2700000" algn="bl" rotWithShape="0">
                <a:srgbClr val="151617">
                  <a:alpha val="100000"/>
                </a:srgbClr>
              </a:outerShdw>
            </a:effectLst>
          </p:spPr>
        </p:sp>
        <p:sp>
          <p:nvSpPr>
            <p:cNvPr id="16" name="Shape 12"/>
            <p:cNvSpPr/>
            <p:nvPr/>
          </p:nvSpPr>
          <p:spPr>
            <a:xfrm>
              <a:off x="6013252" y="1898154"/>
              <a:ext cx="2634555" cy="57150"/>
            </a:xfrm>
            <a:prstGeom prst="roundRect">
              <a:avLst>
                <a:gd name="adj" fmla="val 10000"/>
              </a:avLst>
            </a:prstGeom>
            <a:solidFill>
              <a:srgbClr val="151617"/>
            </a:solidFill>
            <a:ln/>
          </p:spPr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A84D8065-F980-B4ED-B441-58C6C3D55DA9}"/>
                </a:ext>
              </a:extLst>
            </p:cNvPr>
            <p:cNvGrpSpPr/>
            <p:nvPr/>
          </p:nvGrpSpPr>
          <p:grpSpPr>
            <a:xfrm>
              <a:off x="6151513" y="1726406"/>
              <a:ext cx="2358033" cy="962844"/>
              <a:chOff x="6151513" y="1726406"/>
              <a:chExt cx="2358033" cy="962844"/>
            </a:xfrm>
          </p:grpSpPr>
          <p:sp>
            <p:nvSpPr>
              <p:cNvPr id="17" name="Shape 13"/>
              <p:cNvSpPr/>
              <p:nvPr/>
            </p:nvSpPr>
            <p:spPr>
              <a:xfrm>
                <a:off x="7144494" y="1726406"/>
                <a:ext cx="372070" cy="372070"/>
              </a:xfrm>
              <a:prstGeom prst="roundRect">
                <a:avLst>
                  <a:gd name="adj" fmla="val 153600"/>
                </a:avLst>
              </a:prstGeom>
              <a:solidFill>
                <a:srgbClr val="151617"/>
              </a:solidFill>
              <a:ln/>
            </p:spPr>
          </p:sp>
          <p:pic>
            <p:nvPicPr>
              <p:cNvPr id="18" name="Image 2" descr="preencoded.png"/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256115" y="1838027"/>
                <a:ext cx="148828" cy="148828"/>
              </a:xfrm>
              <a:prstGeom prst="rect">
                <a:avLst/>
              </a:prstGeom>
            </p:spPr>
          </p:pic>
          <p:sp>
            <p:nvSpPr>
              <p:cNvPr id="19" name="Text 14"/>
              <p:cNvSpPr/>
              <p:nvPr/>
            </p:nvSpPr>
            <p:spPr>
              <a:xfrm>
                <a:off x="6555209" y="2222525"/>
                <a:ext cx="1550566" cy="1938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1500"/>
                  </a:lnSpc>
                  <a:buNone/>
                </a:pPr>
                <a:r>
                  <a:rPr lang="en-US" sz="1200" b="1" dirty="0">
                    <a:solidFill>
                      <a:srgbClr val="151617"/>
                    </a:solidFill>
                    <a:latin typeface="Montserrat Black" pitchFamily="34" charset="0"/>
                    <a:ea typeface="Montserrat Black" pitchFamily="34" charset="-122"/>
                    <a:cs typeface="Montserrat Black" pitchFamily="34" charset="-120"/>
                  </a:rPr>
                  <a:t>Random Forest</a:t>
                </a:r>
                <a:endParaRPr lang="en-US" sz="1200" dirty="0"/>
              </a:p>
            </p:txBody>
          </p:sp>
          <p:sp>
            <p:nvSpPr>
              <p:cNvPr id="20" name="Text 15"/>
              <p:cNvSpPr/>
              <p:nvPr/>
            </p:nvSpPr>
            <p:spPr>
              <a:xfrm>
                <a:off x="6151513" y="2490788"/>
                <a:ext cx="2358033" cy="19846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1550"/>
                  </a:lnSpc>
                  <a:buNone/>
                </a:pPr>
                <a:r>
                  <a:rPr lang="en-US" sz="950" dirty="0">
                    <a:solidFill>
                      <a:srgbClr val="151617"/>
                    </a:solidFill>
                    <a:latin typeface="Inconsolata" pitchFamily="34" charset="0"/>
                    <a:ea typeface="Inconsolata" pitchFamily="34" charset="-122"/>
                    <a:cs typeface="Inconsolata" pitchFamily="34" charset="-120"/>
                  </a:rPr>
                  <a:t>Ensemble of 100 trees - BEST MODEL</a:t>
                </a:r>
                <a:endParaRPr lang="en-US" sz="950" dirty="0"/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2B7F7BA-5A3B-B95E-701E-344504C1E9A1}"/>
              </a:ext>
            </a:extLst>
          </p:cNvPr>
          <p:cNvGrpSpPr/>
          <p:nvPr/>
        </p:nvGrpSpPr>
        <p:grpSpPr>
          <a:xfrm>
            <a:off x="3221249" y="2384078"/>
            <a:ext cx="2634555" cy="1384683"/>
            <a:chOff x="4633913" y="2951485"/>
            <a:chExt cx="4013895" cy="1101105"/>
          </a:xfrm>
        </p:grpSpPr>
        <p:sp>
          <p:nvSpPr>
            <p:cNvPr id="27" name="Shape 21"/>
            <p:cNvSpPr/>
            <p:nvPr/>
          </p:nvSpPr>
          <p:spPr>
            <a:xfrm>
              <a:off x="4633913" y="3137520"/>
              <a:ext cx="4013895" cy="915070"/>
            </a:xfrm>
            <a:prstGeom prst="roundRect">
              <a:avLst>
                <a:gd name="adj" fmla="val 7495"/>
              </a:avLst>
            </a:prstGeom>
            <a:solidFill>
              <a:srgbClr val="F8ECE4"/>
            </a:solidFill>
            <a:ln w="14288">
              <a:solidFill>
                <a:srgbClr val="151617"/>
              </a:solidFill>
              <a:prstDash val="solid"/>
            </a:ln>
            <a:effectLst>
              <a:outerShdw dist="15240" dir="2700000" algn="bl" rotWithShape="0">
                <a:srgbClr val="151617">
                  <a:alpha val="100000"/>
                </a:srgbClr>
              </a:outerShdw>
            </a:effectLst>
          </p:spPr>
        </p:sp>
        <p:sp>
          <p:nvSpPr>
            <p:cNvPr id="28" name="Shape 22"/>
            <p:cNvSpPr/>
            <p:nvPr/>
          </p:nvSpPr>
          <p:spPr>
            <a:xfrm>
              <a:off x="4633913" y="3123233"/>
              <a:ext cx="4013895" cy="57150"/>
            </a:xfrm>
            <a:prstGeom prst="roundRect">
              <a:avLst>
                <a:gd name="adj" fmla="val 10000"/>
              </a:avLst>
            </a:prstGeom>
            <a:solidFill>
              <a:srgbClr val="151617"/>
            </a:solidFill>
            <a:ln/>
          </p:spPr>
        </p:sp>
        <p:sp>
          <p:nvSpPr>
            <p:cNvPr id="29" name="Shape 23"/>
            <p:cNvSpPr/>
            <p:nvPr/>
          </p:nvSpPr>
          <p:spPr>
            <a:xfrm>
              <a:off x="6454825" y="2951485"/>
              <a:ext cx="372070" cy="372070"/>
            </a:xfrm>
            <a:prstGeom prst="roundRect">
              <a:avLst>
                <a:gd name="adj" fmla="val 153600"/>
              </a:avLst>
            </a:prstGeom>
            <a:solidFill>
              <a:srgbClr val="151617"/>
            </a:solidFill>
            <a:ln/>
          </p:spPr>
        </p:sp>
        <p:pic>
          <p:nvPicPr>
            <p:cNvPr id="30" name="Image 4" descr="preencoded.png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66446" y="3063106"/>
              <a:ext cx="148828" cy="148828"/>
            </a:xfrm>
            <a:prstGeom prst="rect">
              <a:avLst/>
            </a:prstGeom>
          </p:spPr>
        </p:pic>
        <p:sp>
          <p:nvSpPr>
            <p:cNvPr id="31" name="Text 24"/>
            <p:cNvSpPr/>
            <p:nvPr/>
          </p:nvSpPr>
          <p:spPr>
            <a:xfrm>
              <a:off x="5865540" y="3447604"/>
              <a:ext cx="1550566" cy="193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200" b="1" dirty="0">
                  <a:solidFill>
                    <a:srgbClr val="151617"/>
                  </a:solidFill>
                  <a:latin typeface="Montserrat Black" pitchFamily="34" charset="0"/>
                  <a:ea typeface="Montserrat Black" pitchFamily="34" charset="-122"/>
                  <a:cs typeface="Montserrat Black" pitchFamily="34" charset="-120"/>
                </a:rPr>
                <a:t>Neural Network</a:t>
              </a:r>
              <a:endParaRPr lang="en-US" sz="1200" dirty="0"/>
            </a:p>
          </p:txBody>
        </p:sp>
        <p:sp>
          <p:nvSpPr>
            <p:cNvPr id="32" name="Text 25"/>
            <p:cNvSpPr/>
            <p:nvPr/>
          </p:nvSpPr>
          <p:spPr>
            <a:xfrm>
              <a:off x="4772174" y="3715866"/>
              <a:ext cx="3737372" cy="19846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1550"/>
                </a:lnSpc>
                <a:buNone/>
              </a:pPr>
              <a:r>
                <a:rPr lang="en-US" sz="950" dirty="0">
                  <a:solidFill>
                    <a:srgbClr val="151617"/>
                  </a:solidFill>
                  <a:latin typeface="Inconsolata" pitchFamily="34" charset="0"/>
                  <a:ea typeface="Inconsolata" pitchFamily="34" charset="-122"/>
                  <a:cs typeface="Inconsolata" pitchFamily="34" charset="-120"/>
                </a:rPr>
                <a:t>3-layer MLP with </a:t>
              </a:r>
              <a:r>
                <a:rPr lang="en-US" sz="950" dirty="0" err="1">
                  <a:solidFill>
                    <a:srgbClr val="151617"/>
                  </a:solidFill>
                  <a:latin typeface="Inconsolata" pitchFamily="34" charset="0"/>
                  <a:ea typeface="Inconsolata" pitchFamily="34" charset="-122"/>
                  <a:cs typeface="Inconsolata" pitchFamily="34" charset="-120"/>
                </a:rPr>
                <a:t>ReLU</a:t>
              </a:r>
              <a:r>
                <a:rPr lang="en-US" sz="950" dirty="0">
                  <a:solidFill>
                    <a:srgbClr val="151617"/>
                  </a:solidFill>
                  <a:latin typeface="Inconsolata" pitchFamily="34" charset="0"/>
                  <a:ea typeface="Inconsolata" pitchFamily="34" charset="-122"/>
                  <a:cs typeface="Inconsolata" pitchFamily="34" charset="-120"/>
                </a:rPr>
                <a:t> and</a:t>
              </a:r>
            </a:p>
            <a:p>
              <a:pPr marL="0" indent="0" algn="ctr">
                <a:lnSpc>
                  <a:spcPts val="1550"/>
                </a:lnSpc>
                <a:buNone/>
              </a:pPr>
              <a:r>
                <a:rPr lang="en-US" sz="950" dirty="0">
                  <a:solidFill>
                    <a:srgbClr val="151617"/>
                  </a:solidFill>
                  <a:latin typeface="Inconsolata" pitchFamily="34" charset="0"/>
                  <a:ea typeface="Inconsolata" pitchFamily="34" charset="-122"/>
                  <a:cs typeface="Inconsolata" pitchFamily="34" charset="-120"/>
                </a:rPr>
                <a:t> Sigmoid activation</a:t>
              </a:r>
              <a:endParaRPr lang="en-US" sz="950"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650602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App Demo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925119" y="1224186"/>
            <a:ext cx="4722763" cy="724198"/>
          </a:xfrm>
          <a:prstGeom prst="roundRect">
            <a:avLst>
              <a:gd name="adj" fmla="val 78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053855" y="135292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User Input Panel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053855" y="1621185"/>
            <a:ext cx="44652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Enter transaction values through a simple web form for quick testing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925119" y="2072357"/>
            <a:ext cx="4722763" cy="724198"/>
          </a:xfrm>
          <a:prstGeom prst="roundRect">
            <a:avLst>
              <a:gd name="adj" fmla="val 78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053855" y="2201094"/>
            <a:ext cx="19739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Instant Prediction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053855" y="2469356"/>
            <a:ext cx="44652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model immediately classifies each transaction as Fraud or Legitimate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925119" y="2920529"/>
            <a:ext cx="4722763" cy="724198"/>
          </a:xfrm>
          <a:prstGeom prst="roundRect">
            <a:avLst>
              <a:gd name="adj" fmla="val 78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053855" y="3049265"/>
            <a:ext cx="156120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Risk Display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053855" y="3317528"/>
            <a:ext cx="44652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Clear status messages highlight suspicious transactions for rapid action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925119" y="3768700"/>
            <a:ext cx="4722763" cy="724198"/>
          </a:xfrm>
          <a:prstGeom prst="roundRect">
            <a:avLst>
              <a:gd name="adj" fmla="val 78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053855" y="389743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Easy Deployment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053855" y="4165699"/>
            <a:ext cx="44652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Streamlit provides a lightweight interface for demonstration and validation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36886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Actual Results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734443"/>
            <a:ext cx="2613868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99.99%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48010" y="2298799"/>
            <a:ext cx="211008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Random Forest Accuracy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6119" y="2567062"/>
            <a:ext cx="261386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ROC AUC: 1.0000 - WINNER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64991" y="1734443"/>
            <a:ext cx="2613943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99.90%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796680" y="229879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KNN Accuracy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64991" y="2567062"/>
            <a:ext cx="261394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ROC AUC: 0.9997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033939" y="1734443"/>
            <a:ext cx="2613943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99.88%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262985" y="2298799"/>
            <a:ext cx="215585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Neural Network Accuracy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3939" y="2567062"/>
            <a:ext cx="261394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ROC AUC: 0.9995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80518" y="3075533"/>
            <a:ext cx="2613943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99.83%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199308" y="3639889"/>
            <a:ext cx="19763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Decision Tree Accuracy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80518" y="3908152"/>
            <a:ext cx="261394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ROC AUC: 0.9983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49465" y="3075533"/>
            <a:ext cx="2613943" cy="409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94.84%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715991" y="3639889"/>
            <a:ext cx="24808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Logistic Regression Accuracy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49465" y="3908152"/>
            <a:ext cx="261394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ROC AUC: 0.9895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9778" y="743620"/>
            <a:ext cx="352194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Results Visualization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CED17E-1112-C4E7-FEBA-4E6FD5F40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1313543"/>
            <a:ext cx="3962400" cy="1415143"/>
          </a:xfrm>
          <a:prstGeom prst="rect">
            <a:avLst/>
          </a:prstGeom>
          <a:ln w="38100">
            <a:solidFill>
              <a:schemeClr val="accent2">
                <a:lumMod val="40000"/>
                <a:lumOff val="6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EA5569-8AA9-E0E0-F973-C2818C7DC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2455" y="2957783"/>
            <a:ext cx="4775200" cy="1705429"/>
          </a:xfrm>
          <a:prstGeom prst="rect">
            <a:avLst/>
          </a:prstGeom>
          <a:ln w="38100">
            <a:solidFill>
              <a:schemeClr val="accent2">
                <a:lumMod val="40000"/>
                <a:lumOff val="60000"/>
              </a:schemeClr>
            </a:solidFill>
          </a:ln>
        </p:spPr>
      </p:pic>
      <p:sp>
        <p:nvSpPr>
          <p:cNvPr id="3" name="Shape 1"/>
          <p:cNvSpPr/>
          <p:nvPr/>
        </p:nvSpPr>
        <p:spPr>
          <a:xfrm>
            <a:off x="183801" y="2912897"/>
            <a:ext cx="4013895" cy="722779"/>
          </a:xfrm>
          <a:prstGeom prst="roundRect">
            <a:avLst>
              <a:gd name="adj" fmla="val 7282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r>
              <a:t>Model Comparison</a:t>
            </a:r>
          </a:p>
        </p:txBody>
      </p:sp>
      <p:sp>
        <p:nvSpPr>
          <p:cNvPr id="5" name="Text 3"/>
          <p:cNvSpPr/>
          <p:nvPr/>
        </p:nvSpPr>
        <p:spPr>
          <a:xfrm>
            <a:off x="257212" y="321153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Accuracy Trend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33987" y="879433"/>
            <a:ext cx="4013895" cy="941710"/>
          </a:xfrm>
          <a:prstGeom prst="roundRect">
            <a:avLst>
              <a:gd name="adj" fmla="val 7282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r>
              <a:t>ROC AUC Curve</a:t>
            </a:r>
          </a:p>
        </p:txBody>
      </p:sp>
      <p:sp>
        <p:nvSpPr>
          <p:cNvPr id="9" name="Text 7"/>
          <p:cNvSpPr/>
          <p:nvPr/>
        </p:nvSpPr>
        <p:spPr>
          <a:xfrm>
            <a:off x="4744772" y="121661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Balanced Learning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44772" y="1383050"/>
            <a:ext cx="369450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SMOTE helps the model learn minority fraud cases more effectively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58055" y="3857443"/>
            <a:ext cx="4013895" cy="833878"/>
          </a:xfrm>
          <a:prstGeom prst="roundRect">
            <a:avLst>
              <a:gd name="adj" fmla="val 9227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r>
              <a:t>Class Distribution</a:t>
            </a:r>
          </a:p>
        </p:txBody>
      </p:sp>
      <p:sp>
        <p:nvSpPr>
          <p:cNvPr id="13" name="Text 11"/>
          <p:cNvSpPr/>
          <p:nvPr/>
        </p:nvSpPr>
        <p:spPr>
          <a:xfrm>
            <a:off x="257212" y="4169265"/>
            <a:ext cx="24647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Neural Network 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7211" y="3371022"/>
            <a:ext cx="369450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Deep learning also performs strongly with 99.88 percent accuracy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55417" y="1939820"/>
            <a:ext cx="4013895" cy="743248"/>
          </a:xfrm>
          <a:prstGeom prst="roundRect">
            <a:avLst>
              <a:gd name="adj" fmla="val 9227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  <p:txBody>
          <a:bodyPr/>
          <a:lstStyle/>
          <a:p>
            <a:r>
              <a:rPr dirty="0"/>
              <a:t>Confusion Matrix</a:t>
            </a:r>
          </a:p>
        </p:txBody>
      </p:sp>
      <p:sp>
        <p:nvSpPr>
          <p:cNvPr id="19" name="Text 4"/>
          <p:cNvSpPr/>
          <p:nvPr/>
        </p:nvSpPr>
        <p:spPr>
          <a:xfrm>
            <a:off x="257212" y="4295340"/>
            <a:ext cx="369450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Random Forest delivers the highest overall accuracy among all tested models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85461" y="222795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Test Split Summary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44772" y="2418429"/>
            <a:ext cx="369450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Evaluation uses 113,726 test samples for a fair comparison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49499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Findings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985070"/>
            <a:ext cx="4013895" cy="941710"/>
          </a:xfrm>
          <a:prstGeom prst="roundRect">
            <a:avLst>
              <a:gd name="adj" fmla="val 7282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81831" y="1985070"/>
            <a:ext cx="57150" cy="941710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5" name="Text 3"/>
          <p:cNvSpPr/>
          <p:nvPr/>
        </p:nvSpPr>
        <p:spPr>
          <a:xfrm>
            <a:off x="677242" y="212333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Perfect Accuracy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77242" y="2391594"/>
            <a:ext cx="369450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Random Forest achieved 99.99 percent accuracy with ROC AUC score of 1.0000, meaning perfect fraud detection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33987" y="1985070"/>
            <a:ext cx="4013895" cy="941710"/>
          </a:xfrm>
          <a:prstGeom prst="roundRect">
            <a:avLst>
              <a:gd name="adj" fmla="val 7282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19699" y="1985070"/>
            <a:ext cx="57150" cy="941710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9" name="Text 7"/>
          <p:cNvSpPr/>
          <p:nvPr/>
        </p:nvSpPr>
        <p:spPr>
          <a:xfrm>
            <a:off x="4815111" y="212333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SMOTE Success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15111" y="2391594"/>
            <a:ext cx="369450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Balanced dataset from 492 fraud samples to 568,630 total samples, solving severe class imbalance problem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6119" y="3050753"/>
            <a:ext cx="4013895" cy="743248"/>
          </a:xfrm>
          <a:prstGeom prst="roundRect">
            <a:avLst>
              <a:gd name="adj" fmla="val 9227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1831" y="3050753"/>
            <a:ext cx="57150" cy="743248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13" name="Text 11"/>
          <p:cNvSpPr/>
          <p:nvPr/>
        </p:nvSpPr>
        <p:spPr>
          <a:xfrm>
            <a:off x="677242" y="3189015"/>
            <a:ext cx="24647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Neural Network Performance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7242" y="3457277"/>
            <a:ext cx="369450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Reached 99.88 percent accuracy after 15 training epochs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33987" y="3050753"/>
            <a:ext cx="4013895" cy="743248"/>
          </a:xfrm>
          <a:prstGeom prst="roundRect">
            <a:avLst>
              <a:gd name="adj" fmla="val 9227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9699" y="3050753"/>
            <a:ext cx="57150" cy="743248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17" name="Text 15"/>
          <p:cNvSpPr/>
          <p:nvPr/>
        </p:nvSpPr>
        <p:spPr>
          <a:xfrm>
            <a:off x="4815111" y="318901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Dataset Splits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15111" y="3457277"/>
            <a:ext cx="369450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Training set: 454,904 samples. Testing set: 113,726 samples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76995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Syllabus Coverage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712565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This project comprehensively covers all four units of the Machine Learning syllabus:</a:t>
            </a:r>
            <a:endParaRPr lang="en-US" sz="1000" b="1" dirty="0"/>
          </a:p>
        </p:txBody>
      </p:sp>
      <p:sp>
        <p:nvSpPr>
          <p:cNvPr id="4" name="Text 2"/>
          <p:cNvSpPr/>
          <p:nvPr/>
        </p:nvSpPr>
        <p:spPr>
          <a:xfrm>
            <a:off x="496119" y="2050554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247007"/>
            <a:ext cx="4013895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337569"/>
            <a:ext cx="161657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Unit 1: Introduction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119" y="2605832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Real-world ML fraud detection application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33987" y="2050554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33987" y="2247007"/>
            <a:ext cx="4013895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0" name="Text 8"/>
          <p:cNvSpPr/>
          <p:nvPr/>
        </p:nvSpPr>
        <p:spPr>
          <a:xfrm>
            <a:off x="4633987" y="2337569"/>
            <a:ext cx="231844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Unit 2: Supervised Learning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33987" y="2605832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Logistic Regression, Decision Tree, Random Forest, and KNN all implemented and compared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6119" y="3219748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3416201"/>
            <a:ext cx="4013895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3506763"/>
            <a:ext cx="253543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Unit 3: Unsupervised Learning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119" y="3775025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PCA features (V1 to V28) and SMOTE used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33987" y="3219748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3987" y="3416201"/>
            <a:ext cx="4013895" cy="14288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8" name="Text 16"/>
          <p:cNvSpPr/>
          <p:nvPr/>
        </p:nvSpPr>
        <p:spPr>
          <a:xfrm>
            <a:off x="4633987" y="3506763"/>
            <a:ext cx="201401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Unit 4: Neural Networks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33987" y="3775025"/>
            <a:ext cx="40138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3-layer MLP with ReLU, Sigmoid, and Backpropagation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650602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925119" y="1224186"/>
            <a:ext cx="4722763" cy="724198"/>
          </a:xfrm>
          <a:prstGeom prst="roundRect">
            <a:avLst>
              <a:gd name="adj" fmla="val 78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053855" y="135292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Perfect Detection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053855" y="1621185"/>
            <a:ext cx="44652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Random Forest achieved 99.99 percent accuracy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925119" y="2072357"/>
            <a:ext cx="4722763" cy="724198"/>
          </a:xfrm>
          <a:prstGeom prst="roundRect">
            <a:avLst>
              <a:gd name="adj" fmla="val 78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053855" y="2201094"/>
            <a:ext cx="19739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Class Imbalance Solved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053855" y="2469356"/>
            <a:ext cx="44652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SMOTE successfully balanced the dataset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925119" y="2920529"/>
            <a:ext cx="4722763" cy="724198"/>
          </a:xfrm>
          <a:prstGeom prst="roundRect">
            <a:avLst>
              <a:gd name="adj" fmla="val 78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053855" y="3049265"/>
            <a:ext cx="156120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Complete Syllabus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053855" y="3317528"/>
            <a:ext cx="44652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All 4 ML units covered comprehensively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925119" y="3768700"/>
            <a:ext cx="4722763" cy="724198"/>
          </a:xfrm>
          <a:prstGeom prst="roundRect">
            <a:avLst>
              <a:gd name="adj" fmla="val 78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053855" y="389743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053855" y="4165699"/>
            <a:ext cx="44652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Web app built using Streamlit for real-time detection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49499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Feature Importance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985070"/>
            <a:ext cx="4013895" cy="941710"/>
          </a:xfrm>
          <a:prstGeom prst="roundRect">
            <a:avLst>
              <a:gd name="adj" fmla="val 7282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81831" y="1985070"/>
            <a:ext cx="57150" cy="941710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5" name="Text 3"/>
          <p:cNvSpPr/>
          <p:nvPr/>
        </p:nvSpPr>
        <p:spPr>
          <a:xfrm>
            <a:off x="677242" y="212333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PCA-Based Signals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77242" y="2391594"/>
            <a:ext cx="369450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Anonymized V-features capture hidden spending patterns linked with fraudulent behaviour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33987" y="1985070"/>
            <a:ext cx="4013895" cy="941710"/>
          </a:xfrm>
          <a:prstGeom prst="roundRect">
            <a:avLst>
              <a:gd name="adj" fmla="val 7282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19699" y="1985070"/>
            <a:ext cx="57150" cy="941710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9" name="Text 7"/>
          <p:cNvSpPr/>
          <p:nvPr/>
        </p:nvSpPr>
        <p:spPr>
          <a:xfrm>
            <a:off x="4815111" y="2123331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Transaction Amount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15111" y="2391594"/>
            <a:ext cx="369450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Unusual amount ranges strengthen the model's fraud prediction confidence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6119" y="3050753"/>
            <a:ext cx="4013895" cy="743248"/>
          </a:xfrm>
          <a:prstGeom prst="roundRect">
            <a:avLst>
              <a:gd name="adj" fmla="val 9227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1831" y="3050753"/>
            <a:ext cx="57150" cy="743248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13" name="Text 11"/>
          <p:cNvSpPr/>
          <p:nvPr/>
        </p:nvSpPr>
        <p:spPr>
          <a:xfrm>
            <a:off x="677242" y="3189015"/>
            <a:ext cx="246474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Time Behaviour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7242" y="3457277"/>
            <a:ext cx="369450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Time helps reveal bursts, repetition, and other abnormal transaction sequences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33987" y="3050753"/>
            <a:ext cx="4013895" cy="743248"/>
          </a:xfrm>
          <a:prstGeom prst="roundRect">
            <a:avLst>
              <a:gd name="adj" fmla="val 9227"/>
            </a:avLst>
          </a:prstGeom>
          <a:solidFill>
            <a:srgbClr val="F8ECE4"/>
          </a:solidFill>
          <a:ln w="14288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9699" y="3050753"/>
            <a:ext cx="57150" cy="743248"/>
          </a:xfrm>
          <a:prstGeom prst="roundRect">
            <a:avLst>
              <a:gd name="adj" fmla="val 10000"/>
            </a:avLst>
          </a:prstGeom>
          <a:solidFill>
            <a:srgbClr val="151617"/>
          </a:solidFill>
          <a:ln/>
        </p:spPr>
      </p:sp>
      <p:sp>
        <p:nvSpPr>
          <p:cNvPr id="17" name="Text 15"/>
          <p:cNvSpPr/>
          <p:nvPr/>
        </p:nvSpPr>
        <p:spPr>
          <a:xfrm>
            <a:off x="4815111" y="3189015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Model Explainability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15111" y="3457277"/>
            <a:ext cx="369450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Feature importance makes Random Forest predictions easier to justify and present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650602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Future Enhancements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925119" y="1224186"/>
            <a:ext cx="4722763" cy="724198"/>
          </a:xfrm>
          <a:prstGeom prst="roundRect">
            <a:avLst>
              <a:gd name="adj" fmla="val 78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053855" y="135292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Real-Time API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053855" y="1621185"/>
            <a:ext cx="44652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Connect the model to payment gateways for live transaction screening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925119" y="2072357"/>
            <a:ext cx="4722763" cy="724198"/>
          </a:xfrm>
          <a:prstGeom prst="roundRect">
            <a:avLst>
              <a:gd name="adj" fmla="val 78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053855" y="2201094"/>
            <a:ext cx="19739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Explainable AI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053855" y="2469356"/>
            <a:ext cx="44652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Add SHAP-based explanations for analyst-friendly decision support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925119" y="2920529"/>
            <a:ext cx="4722763" cy="724198"/>
          </a:xfrm>
          <a:prstGeom prst="roundRect">
            <a:avLst>
              <a:gd name="adj" fmla="val 78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053855" y="3049265"/>
            <a:ext cx="156120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Continual Learning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053855" y="3317528"/>
            <a:ext cx="44652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Retrain on fresh fraud patterns to reduce drift and improve robustness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925119" y="3768700"/>
            <a:ext cx="4722763" cy="724198"/>
          </a:xfrm>
          <a:prstGeom prst="roundRect">
            <a:avLst>
              <a:gd name="adj" fmla="val 789"/>
            </a:avLst>
          </a:prstGeom>
          <a:solidFill>
            <a:srgbClr val="F8ECE4"/>
          </a:solidFill>
          <a:ln w="4763">
            <a:solidFill>
              <a:srgbClr val="151617"/>
            </a:solidFill>
            <a:prstDash val="solid"/>
          </a:ln>
          <a:effectLst>
            <a:outerShdw dist="1524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053855" y="3897437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Cloud Deployment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053855" y="4165699"/>
            <a:ext cx="446529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Deploy as a secure scalable service with monitoring dashboards</a:t>
            </a:r>
            <a:endParaRPr lang="en-US" sz="9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6BE8F93-CD4F-9F99-6887-6609A5C2E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3925118" cy="51435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1551608"/>
            <a:ext cx="4722763" cy="77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100"/>
              </a:lnSpc>
              <a:buNone/>
            </a:pPr>
            <a:r>
              <a:rPr lang="en-US" sz="4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Thank You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3925119" y="2512888"/>
            <a:ext cx="248089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Sakshi(245UAI053)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Anmol(245UAI021)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Deepika(245UAI034)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en-US" sz="1950" b="1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Kumkum(</a:t>
            </a:r>
            <a:r>
              <a:rPr lang="en-US" sz="19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245UA067)</a:t>
            </a:r>
          </a:p>
          <a:p>
            <a:pPr marL="0" indent="0" algn="l">
              <a:lnSpc>
                <a:spcPts val="2400"/>
              </a:lnSpc>
              <a:buNone/>
            </a:pP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3920117" y="4063156"/>
            <a:ext cx="2714476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Gautam Buddha University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3925119" y="4339828"/>
            <a:ext cx="275540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B.Tech CSE Artificial Intelligence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925119" y="4621933"/>
            <a:ext cx="28618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Machine Learning Project 2024-25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864</Words>
  <Application>Microsoft Office PowerPoint</Application>
  <PresentationFormat>On-screen Show (16:9)</PresentationFormat>
  <Paragraphs>180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Inconsolata</vt:lpstr>
      <vt:lpstr>Montserrat Black</vt:lpstr>
      <vt:lpstr>Wingdings</vt:lpstr>
      <vt:lpstr>Montserrat Light</vt:lpstr>
      <vt:lpstr>Franklin Gothic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Anmol</dc:creator>
  <cp:lastModifiedBy>anmol.verma.5543@outlook.com</cp:lastModifiedBy>
  <cp:revision>3</cp:revision>
  <dcterms:created xsi:type="dcterms:W3CDTF">2026-05-07T11:54:00Z</dcterms:created>
  <dcterms:modified xsi:type="dcterms:W3CDTF">2026-05-08T05:33:39Z</dcterms:modified>
</cp:coreProperties>
</file>